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719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2119" cy="30861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52000"/>
            <a:ext cx="90000" cy="144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080000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Proposal Writing Skill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000" y="1800000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BBCC"/>
                </a:solidFill>
                <a:latin typeface="微软雅黑" panose="020B0503020204020204" charset="-122"/>
              </a:rPr>
              <a:t>方案生产过程控制体系　内部培训材料</a:t>
            </a:r>
            <a:endParaRPr sz="20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2000" y="4140000"/>
            <a:ext cx="7200000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4248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微软雅黑" panose="020B0503020204020204" charset="-122"/>
              </a:rPr>
              <a:t>适用岗位：技术负责人 · 售前工程师 · 投标专员</a:t>
            </a:r>
            <a:endParaRPr sz="14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000" y="453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微软雅黑" panose="020B0503020204020204" charset="-122"/>
              </a:rPr>
              <a:t>预计时长：30 – 40 分钟    共 20 页</a:t>
            </a:r>
            <a:endParaRPr sz="14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2000" y="4824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2026 · 内部使用，请勿对外发布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01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培训说明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Training Overview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02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000" y="108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▌ 本次培训目标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000" y="1331999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1.  理解 Proposal Writing Skill 的定位与职责边界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0000" y="1612800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2.  掌握方案生产十步法的执行顺序与各阶段控制节点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0000" y="1893599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3.  了解技术路线冻结机制与投资控制逻辑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0000" y="2174400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4.  掌握图件体系生成纪律与格式要求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0000" y="2455200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5.  识别并规避常见写作违规行为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0000" y="2736000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6.  使用提交前检查清单进行自查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0000" y="31608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▌ 适用场景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0000" y="3412799"/>
            <a:ext cx="104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▸  使用 Claude Code + Proposal Writing Skill 生成方案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0000" y="3672000"/>
            <a:ext cx="104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▸  人工编制方案时的过程控制参考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0000" y="3931199"/>
            <a:ext cx="104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 panose="020B0503020204020204" charset="-122"/>
              </a:rPr>
              <a:t>  ▸  投标材料合规性自查</a:t>
            </a:r>
            <a:endParaRPr sz="14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0000" y="5994000"/>
            <a:ext cx="11124000" cy="54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6030001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本培训不讨论技术路线选型，不评价设计方案优劣，
仅针对"方案如何生产"这一工程控制问题。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方法定位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What This Skill Is / Is Not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03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80000"/>
            <a:ext cx="5220000" cy="2700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080000"/>
            <a:ext cx="5220000" cy="3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09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✕  不是什么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000" y="1512000"/>
            <a:ext cx="48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 panose="020B0503020204020204" charset="-122"/>
              </a:rPr>
              <a:t>  ✕  "AI 写方案"工具</a:t>
            </a:r>
            <a:endParaRPr sz="14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000" y="1818000"/>
            <a:ext cx="48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 panose="020B0503020204020204" charset="-122"/>
              </a:rPr>
              <a:t>  ✕  技术顾问</a:t>
            </a:r>
            <a:endParaRPr sz="14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8000" y="2124000"/>
            <a:ext cx="48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 panose="020B0503020204020204" charset="-122"/>
              </a:rPr>
              <a:t>  ✕  提供技术建议的角色</a:t>
            </a:r>
            <a:endParaRPr sz="14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8000" y="2430000"/>
            <a:ext cx="48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 panose="020B0503020204020204" charset="-122"/>
              </a:rPr>
              <a:t>  ✕  参与需求判断的角色</a:t>
            </a:r>
            <a:endParaRPr sz="14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2000" y="1080000"/>
            <a:ext cx="5400000" cy="2700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2000" y="1080000"/>
            <a:ext cx="5400000" cy="3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000" y="1098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✔  是什么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72000" y="1512000"/>
            <a:ext cx="51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4E79"/>
                </a:solidFill>
                <a:latin typeface="微软雅黑" panose="020B0503020204020204" charset="-122"/>
              </a:rPr>
              <a:t>  ✔  政府 / 公安信息化项目方案编制过程控制体系</a:t>
            </a:r>
            <a:endParaRPr sz="1400" b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72000" y="1836000"/>
            <a:ext cx="51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4E79"/>
                </a:solidFill>
                <a:latin typeface="微软雅黑" panose="020B0503020204020204" charset="-122"/>
              </a:rPr>
              <a:t>  ✔  控制模型写作行为与输出结构的执行工具</a:t>
            </a:r>
            <a:endParaRPr sz="1400" b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72000" y="2160000"/>
            <a:ext cx="51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4E79"/>
                </a:solidFill>
                <a:latin typeface="微软雅黑" panose="020B0503020204020204" charset="-122"/>
              </a:rPr>
              <a:t>  ✔  强制模型服从权威文件、禁止自由发挥</a:t>
            </a:r>
            <a:endParaRPr sz="1400" b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000" y="3996000"/>
            <a:ext cx="11160000" cy="72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405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BBCC"/>
                </a:solidFill>
                <a:latin typeface="微软雅黑" panose="020B0503020204020204" charset="-122"/>
              </a:rPr>
              <a:t>核心定义</a:t>
            </a:r>
            <a:endParaRPr sz="1200" b="1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8000" y="42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方案的本质 = 决策与约束的表达载体，而非文本创作行为。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8000" y="6282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Skill 负责"怎么说"，不负责"说什么"。"说什么"由 specs/ 权威文件决定。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核心原则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Four Non-Negotiable Priorities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04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152000"/>
            <a:ext cx="5580000" cy="136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152000"/>
            <a:ext cx="360000" cy="136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476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4000" y="1296000"/>
            <a:ext cx="49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D4F"/>
                </a:solidFill>
                <a:latin typeface="微软雅黑" panose="020B0503020204020204" charset="-122"/>
              </a:rPr>
              <a:t>需求优先于方案</a:t>
            </a:r>
            <a:endParaRPr sz="16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4000" y="1620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没有固化需求，不得生成方案。口头共识不能替代结构化文件。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0000" y="1152000"/>
            <a:ext cx="5580000" cy="136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000" y="1152000"/>
            <a:ext cx="360000" cy="136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476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32000" y="1296000"/>
            <a:ext cx="49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D4F"/>
                </a:solidFill>
                <a:latin typeface="微软雅黑" panose="020B0503020204020204" charset="-122"/>
              </a:rPr>
              <a:t>决策优先于写作</a:t>
            </a:r>
            <a:endParaRPr sz="16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32000" y="1620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未完成技术路线裁决，不得进入章节写作阶段。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2000" y="2664000"/>
            <a:ext cx="5580000" cy="136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000" y="2664000"/>
            <a:ext cx="360000" cy="136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298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4000" y="2808000"/>
            <a:ext cx="49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D4F"/>
                </a:solidFill>
                <a:latin typeface="微软雅黑" panose="020B0503020204020204" charset="-122"/>
              </a:rPr>
              <a:t>风险控制优先于技术偏好</a:t>
            </a:r>
            <a:endParaRPr sz="16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4000" y="3132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不以技术先进性作为方案选型的主要依据。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00000" y="2664000"/>
            <a:ext cx="5580000" cy="136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0000" y="2664000"/>
            <a:ext cx="360000" cy="136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000" y="298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2000" y="2808000"/>
            <a:ext cx="49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D4F"/>
                </a:solidFill>
                <a:latin typeface="微软雅黑" panose="020B0503020204020204" charset="-122"/>
              </a:rPr>
              <a:t>投资合理性优先于功能扩展</a:t>
            </a:r>
            <a:endParaRPr sz="16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32000" y="3132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方案能力边界由投资模型决定，不得超出 investment_schema 范围。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2000" y="6282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以上四条原则是评审阶段最常见的被质疑点，也是最需要在编制阶段提前控制的风险维度。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整体文件体系架构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File System Architecture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05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44000"/>
            <a:ext cx="7020000" cy="424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1160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ourier New" panose="02070309020205020404"/>
              </a:rPr>
              <a:t>proposal-writing-skill/</a:t>
            </a:r>
            <a:endParaRPr sz="1100" b="1">
              <a:solidFill>
                <a:srgbClr val="F5A623"/>
              </a:solidFill>
              <a:latin typeface="Courier New" panose="020703090202050204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00" y="13536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50"/>
                </a:solidFill>
                <a:latin typeface="Courier New" panose="02070309020205020404"/>
              </a:rPr>
              <a:t>├── SKILL.md</a:t>
            </a:r>
            <a:endParaRPr sz="1100" b="0">
              <a:solidFill>
                <a:srgbClr val="7EC850"/>
              </a:solidFill>
              <a:latin typeface="Courier New" panose="020703090202050204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00" y="15912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ourier New" panose="02070309020205020404"/>
              </a:rPr>
              <a:t>│   ← 唯一规则权威文件</a:t>
            </a:r>
            <a:endParaRPr sz="1100" b="0">
              <a:solidFill>
                <a:srgbClr val="CCD6E0"/>
              </a:solidFill>
              <a:latin typeface="Courier New" panose="020703090202050204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00" y="18288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B6C2"/>
                </a:solidFill>
                <a:latin typeface="Courier New" panose="02070309020205020404"/>
              </a:rPr>
              <a:t>├── specs/</a:t>
            </a:r>
            <a:endParaRPr sz="1100" b="1">
              <a:solidFill>
                <a:srgbClr val="56B6C2"/>
              </a:solidFill>
              <a:latin typeface="Courier New" panose="020703090202050204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6000" y="20664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 panose="02070309020205020404"/>
              </a:rPr>
              <a:t>│   ├── 需求.md          ← 业务事实 SSoT</a:t>
            </a:r>
            <a:endParaRPr sz="1100" b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00" y="23040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 panose="02070309020205020404"/>
              </a:rPr>
              <a:t>│   ├── technical_baseline.md ← 技术路线裁决</a:t>
            </a:r>
            <a:endParaRPr sz="1100" b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000" y="25416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 panose="02070309020205020404"/>
              </a:rPr>
              <a:t>│   ├── architecture_scope.md ← 架构范围约束</a:t>
            </a:r>
            <a:endParaRPr sz="1100" b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00" y="27792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 panose="02070309020205020404"/>
              </a:rPr>
              <a:t>│   ├── investment_schema.md  ← 投资模型权威</a:t>
            </a:r>
            <a:endParaRPr sz="1100" b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6000" y="30168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 panose="02070309020205020404"/>
              </a:rPr>
              <a:t>│   ├── chart_registry.md    ← 图件注册清单</a:t>
            </a:r>
            <a:endParaRPr sz="1100" b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6000" y="32544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 panose="02070309020205020404"/>
              </a:rPr>
              <a:t>│   └── document_conventions.md</a:t>
            </a:r>
            <a:endParaRPr sz="1100" b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00" y="34920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BF7A"/>
                </a:solidFill>
                <a:latin typeface="Courier New" panose="02070309020205020404"/>
              </a:rPr>
              <a:t>├── drafts/              ← 草稿区（禁止整体重写）</a:t>
            </a:r>
            <a:endParaRPr sz="1100" b="0">
              <a:solidFill>
                <a:srgbClr val="E0BF7A"/>
              </a:solidFill>
              <a:latin typeface="Courier New" panose="020703090202050204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000" y="37296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BF7A"/>
                </a:solidFill>
                <a:latin typeface="Courier New" panose="02070309020205020404"/>
              </a:rPr>
              <a:t>│   └── chart/           ← 推理图（Mermaid）</a:t>
            </a:r>
            <a:endParaRPr sz="1100" b="0">
              <a:solidFill>
                <a:srgbClr val="E0BF7A"/>
              </a:solidFill>
              <a:latin typeface="Courier New" panose="020703090202050204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6000" y="39672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8C379"/>
                </a:solidFill>
                <a:latin typeface="Courier New" panose="02070309020205020404"/>
              </a:rPr>
              <a:t>└── output/              ← 正式交付区</a:t>
            </a:r>
            <a:endParaRPr sz="1100" b="0">
              <a:solidFill>
                <a:srgbClr val="98C379"/>
              </a:solidFill>
              <a:latin typeface="Courier New" panose="020703090202050204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6000" y="42048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8C379"/>
                </a:solidFill>
                <a:latin typeface="Courier New" panose="02070309020205020404"/>
              </a:rPr>
              <a:t>    ├── chart/           ← 正式图件（HTML→PNG）</a:t>
            </a:r>
            <a:endParaRPr sz="1100" b="0">
              <a:solidFill>
                <a:srgbClr val="98C379"/>
              </a:solidFill>
              <a:latin typeface="Courier New" panose="020703090202050204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00" y="44424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8C379"/>
                </a:solidFill>
                <a:latin typeface="Courier New" panose="02070309020205020404"/>
              </a:rPr>
              <a:t>    ├── screenshot/      ← 现网截图（独立管理）</a:t>
            </a:r>
            <a:endParaRPr sz="1100" b="0">
              <a:solidFill>
                <a:srgbClr val="98C379"/>
              </a:solidFill>
              <a:latin typeface="Courier New" panose="020703090202050204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6000" y="4680000"/>
            <a:ext cx="684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8C379"/>
                </a:solidFill>
                <a:latin typeface="Courier New" panose="02070309020205020404"/>
              </a:rPr>
              <a:t>    └── *.md / *.docx    ← 最终方案文本</a:t>
            </a:r>
            <a:endParaRPr sz="1100" b="0">
              <a:solidFill>
                <a:srgbClr val="98C379"/>
              </a:solidFill>
              <a:latin typeface="Courier New" panose="020703090202050204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68000" y="1044000"/>
            <a:ext cx="43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关键规则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68000" y="1368000"/>
            <a:ext cx="4428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8000" y="1368000"/>
            <a:ext cx="54000" cy="68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2000" y="1404000"/>
            <a:ext cx="42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specs/ 为最高权威层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12000" y="1619999"/>
            <a:ext cx="4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内容一旦确认不得随意变更，所有决策均以此为依据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68000" y="2160000"/>
            <a:ext cx="4428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8000" y="2160000"/>
            <a:ext cx="54000" cy="68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2000" y="2196000"/>
            <a:ext cx="42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SKILL.md 是唯一行为规则文件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12000" y="2411999"/>
            <a:ext cx="4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其余文件均为规则支撑组件，不独立裁决行为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68000" y="2951999"/>
            <a:ext cx="4428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68000" y="2951999"/>
            <a:ext cx="54000" cy="68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2000" y="2987999"/>
            <a:ext cx="42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drafts/ 内容属于中间态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812000" y="3203998"/>
            <a:ext cx="4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禁止整体重写，禁止直接作为正式交付物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668000" y="3744000"/>
            <a:ext cx="4428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68000" y="3744000"/>
            <a:ext cx="54000" cy="68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2000" y="3780000"/>
            <a:ext cx="42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正式图件不得从 drafts/ 复制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12000" y="3995999"/>
            <a:ext cx="4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必须经过 HTML 渲染后以正式流程生成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权威优先级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Authority Hierarchy &amp; Conflict Resolution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06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6059" y="972000"/>
            <a:ext cx="3600000" cy="5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6059" y="990000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优先级 1  ·  specs/ 目录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6059" y="12060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业务事实与约束，所有决策的根基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56059" y="1602000"/>
            <a:ext cx="4680000" cy="5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6059" y="1620000"/>
            <a:ext cx="43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优先级 2  ·  drafts/ 目录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36059" y="1836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中间草稿，禁止整体重写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16059" y="2232000"/>
            <a:ext cx="5760000" cy="5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6059" y="22500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优先级 3  ·  output/ 目录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96059" y="2466000"/>
            <a:ext cx="54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正式交付物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676059" y="2862000"/>
            <a:ext cx="6840000" cy="558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6059" y="2880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优先级 4  ·  PROPOSAL_PLAN.md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56059" y="3096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可丢弃的状态跟踪文件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36059" y="3491999"/>
            <a:ext cx="7920000" cy="5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16059" y="3509999"/>
            <a:ext cx="75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优先级 5  ·  模型推理 / 经验判断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16059" y="3725999"/>
            <a:ext cx="75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禁止作为事实来源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820000" y="972000"/>
            <a:ext cx="3168000" cy="270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0" y="104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specs/ 内部冲突裁决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00000" y="1296000"/>
            <a:ext cx="28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微软雅黑" panose="020B0503020204020204" charset="-122"/>
              </a:rPr>
              <a:t>当 需求.md 与 investment_schema.md
在资源规模上存在冲突时：
▸ investment_schema.md 优先
需求.md 仅定义业务与功能边界，
不裁决资源模型。
资源配置权属于投资模型文件。</a:t>
            </a:r>
            <a:endParaRPr sz="12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0000" y="6264000"/>
            <a:ext cx="111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微软雅黑" panose="020B0503020204020204" charset="-122"/>
              </a:rPr>
              <a:t>任何冲突：服从更高权威。不得以正文描述推翻 specs/ 文件。</a:t>
            </a:r>
            <a:endParaRPr sz="12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方案生产十步法概览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10-Step Production Workflow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07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007999"/>
            <a:ext cx="2808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0260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需求阶段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138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1386000"/>
            <a:ext cx="432000" cy="6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1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6000" y="153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用户需求输入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0000" y="210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2106000"/>
            <a:ext cx="432000" cy="6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000" y="223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6000" y="225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需求澄清与修正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00" y="282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" y="2826000"/>
            <a:ext cx="432000" cy="6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295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6000" y="297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固化为需求.md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4000" y="1800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6E0"/>
                </a:solidFill>
                <a:latin typeface="微软雅黑" panose="020B0503020204020204" charset="-122"/>
              </a:rPr>
              <a:t>▶</a:t>
            </a:r>
            <a:endParaRPr sz="2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76000" y="1007999"/>
            <a:ext cx="2808000" cy="30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6000" y="10260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决策阶段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76000" y="138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000" y="1386000"/>
            <a:ext cx="432000" cy="6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4000" y="151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62000" y="153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需求基线评审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76000" y="210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000" y="2106000"/>
            <a:ext cx="432000" cy="6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4000" y="223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5A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62000" y="225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技术路线识别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76000" y="282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76000" y="2826000"/>
            <a:ext cx="432000" cy="6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4000" y="295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5B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62000" y="297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技术路线裁决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20000" y="1800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6E0"/>
                </a:solidFill>
                <a:latin typeface="微软雅黑" panose="020B0503020204020204" charset="-122"/>
              </a:rPr>
              <a:t>▶</a:t>
            </a:r>
            <a:endParaRPr sz="2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192000" y="1007999"/>
            <a:ext cx="2808000" cy="306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2000" y="10260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验证阶段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92000" y="138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2000" y="1386000"/>
            <a:ext cx="432000" cy="630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0000" y="151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78000" y="153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原厂询价测算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92000" y="210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2000" y="2106000"/>
            <a:ext cx="432000" cy="630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0000" y="223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78000" y="225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投资模型构建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192000" y="282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2000" y="2826000"/>
            <a:ext cx="432000" cy="630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0000" y="295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678000" y="297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投资合理性评审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036000" y="1800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6E0"/>
                </a:solidFill>
                <a:latin typeface="微软雅黑" panose="020B0503020204020204" charset="-122"/>
              </a:rPr>
              <a:t>▶</a:t>
            </a:r>
            <a:endParaRPr sz="2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108000" y="1007999"/>
            <a:ext cx="2808000" cy="306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8000" y="10260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输出阶段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108000" y="138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08000" y="1386000"/>
            <a:ext cx="432000" cy="63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26000" y="151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9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594000" y="153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建设方案书写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108000" y="2106000"/>
            <a:ext cx="2808000" cy="63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08000" y="2106000"/>
            <a:ext cx="432000" cy="63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26000" y="2231999"/>
            <a:ext cx="3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594000" y="225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综合评审复核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60000" y="4680000"/>
            <a:ext cx="11520000" cy="126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0000" y="47340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BBCC"/>
                </a:solidFill>
                <a:latin typeface="微软雅黑" panose="020B0503020204020204" charset="-122"/>
              </a:rPr>
              <a:t>核心控制逻辑</a:t>
            </a:r>
            <a:endParaRPr sz="1200" b="1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8000" y="496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✕  禁止跳步：任何阶段未完成，不得进入下一阶段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8000" y="523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✕  禁止逆序：已固化的文件不得被后续阶段推翻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8000" y="550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  ✕  禁止并行：需求、决策、验证三阶段必须顺序完成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8000" y="6534000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Step 9（方案书写）是整个流程最后进入的环节，不是最先开始的环节。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需求阶段详解（Step 1–3）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Requirements Phase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08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80000"/>
            <a:ext cx="11520000" cy="151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080000"/>
            <a:ext cx="720000" cy="151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260000"/>
            <a:ext cx="6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Step 1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00" y="1493999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6000" y="1170000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用户需求输入（非结构化阶段）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68000" y="1476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来源：会议纪要 / 用户口述 / 问题描述 / 厂商交流材料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68000" y="17388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信息可能不完整，技术语言可能混乱或自相矛盾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68000" y="20016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不具备直接写方案的条件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68000" y="22644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▸  ⚠ 禁止行为：Step 1 完成前进入方案写作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2000" y="2700000"/>
            <a:ext cx="11520000" cy="151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000" y="2700000"/>
            <a:ext cx="720000" cy="151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2880000"/>
            <a:ext cx="6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Step 2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000" y="3113999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96000" y="2790000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需求澄清与修正（认知治理阶段）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68000" y="3096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目标：去除歧义与冲突，剔除不可实施设想，明确系统边界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68000" y="33588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本阶段属于认知治理，而非技术设计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68000" y="36216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输出的是"确认过的事实"，不是"设计方案"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2000" y="4320000"/>
            <a:ext cx="11520000" cy="151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000" y="4320000"/>
            <a:ext cx="720000" cy="1512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000" y="4500000"/>
            <a:ext cx="6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Step 3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8000" y="4733999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96000" y="4410000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固化为 specs/需求.md（事实基线阶段）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8000" y="4716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必须包含"现网设备清单"章节 → 若缺失，禁止进入方案生成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68000" y="49788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现网结构表达仅可来源于此文件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68000" y="52416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文件一旦确认，不应随意变更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68000" y="55044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▸  ★ 是后续全部决策与方案生成的唯一事实依据（SSoT）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决策阶段详解（Step 4–5B）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Decision Phase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09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80000"/>
            <a:ext cx="11520000" cy="115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080000"/>
            <a:ext cx="540000" cy="115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260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6000" y="1116000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Step 4 ｜ 需求基线评审（合规校验）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000" y="1386000"/>
            <a:ext cx="10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验证是否存在逻辑冲突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000" y="1584000"/>
            <a:ext cx="10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验证是否符合评审语境（财政、招采合规）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8000" y="1782000"/>
            <a:ext cx="10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验证是否具备实施与采购可行性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000" y="1980000"/>
            <a:ext cx="10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产出：通过评审的 specs/需求.md（确认版本）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5580000" cy="19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340000"/>
            <a:ext cx="540000" cy="198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" y="262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5A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6000" y="2376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Step 5A ｜ 技术路线空间识别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8000" y="2664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微软雅黑" panose="020B0503020204020204" charset="-122"/>
              </a:rPr>
              <a:t>  ▸  识别可行技术路径集合，而非直接推荐方案</a:t>
            </a:r>
            <a:endParaRPr sz="12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000" y="2898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微软雅黑" panose="020B0503020204020204" charset="-122"/>
              </a:rPr>
              <a:t>  ▸  列出候选路线及其约束条件</a:t>
            </a:r>
            <a:endParaRPr sz="12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8000" y="3132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微软雅黑" panose="020B0503020204020204" charset="-122"/>
              </a:rPr>
              <a:t>  ▸  分析各路线的风险与运维成本</a:t>
            </a:r>
            <a:endParaRPr sz="12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8000" y="3366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微软雅黑" panose="020B0503020204020204" charset="-122"/>
              </a:rPr>
              <a:t>  ▸  不对外发布此阶段内容</a:t>
            </a:r>
            <a:endParaRPr sz="12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0000" y="2340000"/>
            <a:ext cx="5652000" cy="19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0000" y="2340000"/>
            <a:ext cx="540000" cy="198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000" y="262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5B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3999" y="2376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Step 5B ｜ 技术路线裁决（决策核心）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56000" y="2664000"/>
            <a:ext cx="47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B3C"/>
                </a:solidFill>
                <a:latin typeface="微软雅黑" panose="020B0503020204020204" charset="-122"/>
              </a:rPr>
              <a:t>裁决依据（允许）</a:t>
            </a:r>
            <a:endParaRPr sz="1200" b="1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28000" y="2862000"/>
            <a:ext cx="46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  ✔  风险可控性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28000" y="3060000"/>
            <a:ext cx="46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  ✔  运维能力匹配度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28000" y="3258000"/>
            <a:ext cx="46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  ✔  投资合理性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56000" y="3474000"/>
            <a:ext cx="47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微软雅黑" panose="020B0503020204020204" charset="-122"/>
              </a:rPr>
              <a:t>禁止依据</a:t>
            </a:r>
            <a:endParaRPr sz="12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28000" y="3671999"/>
            <a:ext cx="46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  ✕  技术先进性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28000" y="3870000"/>
            <a:ext cx="46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  ✕  厂商推荐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28000" y="4067999"/>
            <a:ext cx="46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  ✕  模型默认倾向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2000" y="4428000"/>
            <a:ext cx="11520000" cy="54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4482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裁决结果写入 specs/technical_baseline.md 并冻结。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8000" y="4698000"/>
            <a:ext cx="10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CC"/>
                </a:solidFill>
                <a:latin typeface="微软雅黑" panose="020B0503020204020204" charset="-122"/>
              </a:rPr>
              <a:t>冻结后，任何方案内容不得偏离此基线。</a:t>
            </a:r>
            <a:endParaRPr sz="13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验证阶段详解（Step 6–8）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Validation Phase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10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44000"/>
            <a:ext cx="11520000" cy="144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044000"/>
            <a:ext cx="540000" cy="1440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440000"/>
            <a:ext cx="50399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6000" y="1116000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Step 6 ｜ 原厂询价 / 厂商测算（现实验证）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000" y="1404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目的：验证设备市场可获得性，验证造价区间合理性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000" y="1656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避免评审阶段出现价格质疑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8000" y="1908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产出：厂商报价单（归档至 specs/ 或附件）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2000" y="2591999"/>
            <a:ext cx="11520000" cy="144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591999"/>
            <a:ext cx="540000" cy="144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" y="2987999"/>
            <a:ext cx="50399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6000" y="2663999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Step 7 ｜ 投资模型与整体报价构建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8000" y="2951999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形成 CAPEX 结构（软硬件 / 集成 / 服务费分类）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8000" y="3203999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设备与扩容模型，每项配置有对应需求依据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000" y="3455999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预算可解释路径（每项有合同与清单依据）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8000" y="3707998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产出：specs/investment_schema.md（金额冻结）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520000" cy="144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000" y="4140000"/>
            <a:ext cx="540000" cy="144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000" y="4536000"/>
            <a:ext cx="50399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6000" y="4212000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Step 8 ｜ 投资合理性评审（高风险阶段）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8000" y="4500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重点审查：是否存在过度设计（配置超出业务需求）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88000" y="4752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是否符合财政投资逻辑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8000" y="5004000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  ▸  是否易被专家否决（单价偏高 / 数量不合理）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8000" y="5255999"/>
            <a:ext cx="10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▸  ⚠ Step 8 通过后，投资模型不再调整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输出阶段详解（Step 9–10）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Output Phase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11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44000"/>
            <a:ext cx="11520000" cy="252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044000"/>
            <a:ext cx="540000" cy="252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72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9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6000" y="1098000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Step 9 ｜ 建设方案书写（表达阶段）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6000" y="1386000"/>
            <a:ext cx="104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</a:rPr>
              <a:t>进入条件（全部满足，方可开始）：</a:t>
            </a:r>
            <a:endParaRPr sz="13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60000" y="1620000"/>
            <a:ext cx="10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6B3C"/>
                </a:solidFill>
                <a:latin typeface="微软雅黑" panose="020B0503020204020204" charset="-122"/>
              </a:rPr>
              <a:t>  ☑  specs/需求.md 已完成并通过评审，包含现网设备清单</a:t>
            </a:r>
            <a:endParaRPr sz="13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60000" y="1864800"/>
            <a:ext cx="10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6B3C"/>
                </a:solidFill>
                <a:latin typeface="微软雅黑" panose="020B0503020204020204" charset="-122"/>
              </a:rPr>
              <a:t>  ☑  specs/technical_baseline.md 已冻结</a:t>
            </a:r>
            <a:endParaRPr sz="13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0000" y="2109600"/>
            <a:ext cx="10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6B3C"/>
                </a:solidFill>
                <a:latin typeface="微软雅黑" panose="020B0503020204020204" charset="-122"/>
              </a:rPr>
              <a:t>  ☑  specs/investment_schema.md 已确认无冲突</a:t>
            </a:r>
            <a:endParaRPr sz="13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6000" y="2394000"/>
            <a:ext cx="104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</a:rPr>
              <a:t>写作行为约束：</a:t>
            </a:r>
            <a:endParaRPr sz="13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60000" y="26100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✕  不新增需求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0000" y="28332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✕  不扩展未裁决能力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60000" y="30564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✕  不改变既定决策逻辑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16000" y="3240000"/>
            <a:ext cx="10620000" cy="27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000" y="3258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方案文本用于表达决策，而非探索决策。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000" y="3708000"/>
            <a:ext cx="11520000" cy="144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" y="3708000"/>
            <a:ext cx="540000" cy="144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000" y="4176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6000" y="3761999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D4F"/>
                </a:solidFill>
                <a:latin typeface="微软雅黑" panose="020B0503020204020204" charset="-122"/>
              </a:rPr>
              <a:t>Step 10 ｜ 综合评审与一致性复核（终审）</a:t>
            </a:r>
            <a:endParaRPr sz="15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8000" y="4014000"/>
            <a:ext cx="43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  ▸  技术逻辑一致性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80000" y="4014000"/>
            <a:ext cx="61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章节内容与 technical_baseline 一致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88000" y="4273200"/>
            <a:ext cx="43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  ▸  投资逻辑一致性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80000" y="4273200"/>
            <a:ext cx="61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预算数字与 investment_schema 完全吻合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8000" y="4532400"/>
            <a:ext cx="43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  ▸  章节结构一致性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80000" y="4532400"/>
            <a:ext cx="61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各章节之间不存在相互矛盾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88000" y="4791600"/>
            <a:ext cx="43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  ▸  可答辩性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80000" y="4791600"/>
            <a:ext cx="61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专家提问有据可查，有文件支撑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0000" y="631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终审通过后，方可进入交付与发布流程。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技术路线冻结机制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Technical Route Freeze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12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000" y="108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冻结的含义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0000" y="1314000"/>
            <a:ext cx="111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技术路线一旦写入 specs/technical_baseline.md，即视为工程裁决结果：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0000" y="1565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✕  方案正文不得偏离基线文件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0000" y="180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✕  图件与部署结构不得引入基线外节点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0000" y="203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✕  章节描述不得进行替代路线比较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0000" y="226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  <a:latin typeface="微软雅黑" panose="020B0503020204020204" charset="-122"/>
              </a:rPr>
              <a:t>  ✕  不得在方案中引入演进性技术变体或架构分支</a:t>
            </a:r>
            <a:endParaRPr sz="13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000" y="252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当前技术路线基线（示例）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32000" y="2772000"/>
          <a:ext cx="792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5760000"/>
              </a:tblGrid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层级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裁决结论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计算架构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国产化 x86 架构服务器体系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操作系统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国产服务器操作系统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数据库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国产数据库管理系统（达梦等）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存储模型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NAS 统一文件存储资源池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设备层定位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数据采集接入层，不承担计算能力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640000" y="2520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▌ 明确排除的技术模型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40000" y="2772000"/>
            <a:ext cx="3420000" cy="342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2000" y="279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  ✕  分布式对象存储集群架构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40000" y="3168000"/>
            <a:ext cx="3420000" cy="342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2000" y="318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  ✕  FC-SAN 集中式存储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640000" y="3564000"/>
            <a:ext cx="3420000" cy="342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2000" y="3581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  ✕  云存储 / 云资源池模型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640000" y="3960000"/>
            <a:ext cx="3420000" cy="342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2000" y="397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  ✕  混合异构存储架构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2000" y="4392000"/>
            <a:ext cx="11520000" cy="46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" y="4446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以上排除项不属于"未来可选"，属于本项目既定范围外。方案中不得出现，图件中不得表达。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投资控制逻辑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Investment Control Logic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13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80000"/>
            <a:ext cx="11520000" cy="72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080000"/>
            <a:ext cx="72000" cy="72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116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specs/investment_schema.md 是本项目资源配置与预算的唯一合法来源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000" y="1350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包括：服务器数量 / 设备配置参数 / 存储容量规模 / 预算设备清单 / 部署结构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000" y="190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禁止行为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2000" y="2160000"/>
          <a:ext cx="11520000" cy="14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6480000"/>
              </a:tblGrid>
              <a:tr h="2448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禁止行为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风险说明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自行计算服务器数量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与清单冲突，引发评审质疑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自行修改配置规模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破坏预算平衡，影响合同依据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自行扩展硬件类别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新增未批准采购项，违反财政纪律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基于经验推导容量与性能规模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无合同依据，无法答辩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修改总计金额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直接违反财政合规要求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2000" y="414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计算约束（不可违反）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2000" y="4356000"/>
            <a:ext cx="11520000" cy="82799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410000"/>
            <a:ext cx="10800000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ourier New" panose="02070309020205020404"/>
              </a:rPr>
              <a:t>各分项金额之和  =  总计</a:t>
            </a:r>
            <a:endParaRPr sz="1200" b="1">
              <a:solidFill>
                <a:srgbClr val="F5A623"/>
              </a:solidFill>
              <a:latin typeface="Courier New" panose="020703090202050204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0000" y="4597200"/>
            <a:ext cx="10800000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 panose="02070309020205020404"/>
              </a:rPr>
              <a:t>若计算冲突  →  以总计为最高约束</a:t>
            </a:r>
            <a:endParaRPr sz="1200" b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0000" y="4784400"/>
            <a:ext cx="10800000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ourier New" panose="02070309020205020404"/>
              </a:rPr>
              <a:t>不允许因模型推理调整预算结构</a:t>
            </a:r>
            <a:endParaRPr sz="1200" b="0">
              <a:solidFill>
                <a:srgbClr val="CCCCCC"/>
              </a:solidFill>
              <a:latin typeface="Courier New" panose="020703090202050204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0000" y="4971600"/>
            <a:ext cx="10800000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ourier New" panose="02070309020205020404"/>
              </a:rPr>
              <a:t>单价是政策合规参数，不是估算参数</a:t>
            </a:r>
            <a:endParaRPr sz="1200" b="0">
              <a:solidFill>
                <a:srgbClr val="CCCCCC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图件体系说明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Chart System Classification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14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44000"/>
            <a:ext cx="11520000" cy="432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09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图件属于技术决策表达资产，不是自由内容生成资产。用于表达既定决策，解释系统结构，支撑评审理解。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000" y="1565999"/>
            <a:ext cx="2808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15768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 类（强制）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1872000"/>
            <a:ext cx="2808000" cy="252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000" y="1908000"/>
            <a:ext cx="27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架构决策类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4000" y="2142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微软雅黑" panose="020B0503020204020204" charset="-122"/>
              </a:rPr>
              <a:t>来源：investment_schema / 需求.md</a:t>
            </a:r>
            <a:endParaRPr sz="11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4000" y="2376000"/>
            <a:ext cx="27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A-01 系统总体架构图
A-02 网络拓扑图
A-03 数据流转图
A-04 部署结构图
A-05 服务器角色划分图
A-06 现网结构图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48000" y="1565999"/>
            <a:ext cx="2808000" cy="30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8000" y="15768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 类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48000" y="1872000"/>
            <a:ext cx="2808000" cy="252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000" y="1908000"/>
            <a:ext cx="27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实施与流程类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20000" y="2142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微软雅黑" panose="020B0503020204020204" charset="-122"/>
              </a:rPr>
              <a:t>来源：已裁决流程</a:t>
            </a:r>
            <a:endParaRPr sz="11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0000" y="2376000"/>
            <a:ext cx="27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B-01 实施甘特图
B-02 系统切换流程图
B-03 数据迁移流程图
B-04 风险控制闭环图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4000" y="1565999"/>
            <a:ext cx="2808000" cy="306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4000" y="15768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C 类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64000" y="1872000"/>
            <a:ext cx="2808000" cy="252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000" y="1908000"/>
            <a:ext cx="27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投标增强类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36000" y="2142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微软雅黑" panose="020B0503020204020204" charset="-122"/>
              </a:rPr>
              <a:t>来源：仅投标文件启用</a:t>
            </a:r>
            <a:endParaRPr sz="11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36000" y="2376000"/>
            <a:ext cx="27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C-01 技术响应映射图
C-02 服务保障体系图
C-03 质量控制闭环图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80000" y="1565999"/>
            <a:ext cx="2808000" cy="306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000" y="1576800"/>
            <a:ext cx="28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D 类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80000" y="1872000"/>
            <a:ext cx="2808000" cy="252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2000" y="1908000"/>
            <a:ext cx="27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D4F"/>
                </a:solidFill>
                <a:latin typeface="微软雅黑" panose="020B0503020204020204" charset="-122"/>
              </a:rPr>
              <a:t>UI 表达类</a:t>
            </a:r>
            <a:endParaRPr sz="13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252000" y="2142000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微软雅黑" panose="020B0503020204020204" charset="-122"/>
              </a:rPr>
              <a:t>来源：output/screenshot/</a:t>
            </a:r>
            <a:endParaRPr sz="11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52000" y="2376000"/>
            <a:ext cx="27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D-01 页面结构原型图
D-02 页面布局结构图
D-03 页面流程交互图
D-04 系统界面示意图
D-05 现网系统截图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2000" y="4554000"/>
            <a:ext cx="11520000" cy="522000"/>
          </a:xfrm>
          <a:prstGeom prst="rect">
            <a:avLst/>
          </a:prstGeom>
          <a:solidFill>
            <a:srgbClr val="FD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000" y="4554000"/>
            <a:ext cx="72000" cy="52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000" y="4590000"/>
            <a:ext cx="10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D4F"/>
                </a:solidFill>
                <a:latin typeface="微软雅黑" panose="020B0503020204020204" charset="-122"/>
              </a:rPr>
              <a:t>A-06 现网结构图特别说明：</a:t>
            </a:r>
            <a:endParaRPr sz="12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2000" y="478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微软雅黑" panose="020B0503020204020204" charset="-122"/>
              </a:rPr>
              <a:t>事实来源唯一为 specs/需求.md，禁止引用 investment_schema.md 或正文描述推导。</a:t>
            </a:r>
            <a:endParaRPr sz="12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图件生成纪律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Chart Generation Discipline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15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格式纪律（不可违反）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000" y="1296000"/>
          <a:ext cx="684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780000"/>
                <a:gridCol w="1260000"/>
              </a:tblGrid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格式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用途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是否允许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HTML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正式图件源格式（唯一合法）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✔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PNG / SVG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派生交付格式（必须基于 HTML 导出）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✔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Mermaid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推理草图（仅限 drafts/chart/）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✔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ASCII 图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✕ 禁止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直接生成 PNG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跳过 HTML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2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✕ 禁止</a:t>
                      </a:r>
                      <a:endParaRPr sz="12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5805" y="4058485"/>
            <a:ext cx="68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4B5"/>
                </a:solidFill>
                <a:latin typeface="微软雅黑" panose="020B0503020204020204" charset="-122"/>
              </a:rPr>
              <a:t>PNG 分辨率要求：≥ 1920×1080</a:t>
            </a:r>
            <a:endParaRPr sz="1200" b="1">
              <a:solidFill>
                <a:srgbClr val="2E74B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60000" y="1044000"/>
            <a:ext cx="45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图件生成执行顺序（强制）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60000" y="12960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① 完成正文结构生成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60000" y="15192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② 根据 chart_registry.md 判断触发条件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60000" y="17424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③ 生成 drafts/chart/ 推理图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60000" y="19656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④ 校验一致性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60000" y="21888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   现状类 ↔ specs/需求.md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60000" y="24120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微软雅黑" panose="020B0503020204020204" charset="-122"/>
              </a:rPr>
              <a:t>   建设类 ↔ investment_schema</a:t>
            </a:r>
            <a:endParaRPr sz="13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60000" y="26352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⑤ 生成 output/chart/ 正式 HTML 图件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60000" y="28584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⑥ 导出 PNG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60000" y="3081600"/>
            <a:ext cx="45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微软雅黑" panose="020B0503020204020204" charset="-122"/>
              </a:rPr>
              <a:t>⑦ 正文引用图件</a:t>
            </a:r>
            <a:endParaRPr sz="1300" b="1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560000" y="3330000"/>
            <a:ext cx="4500000" cy="27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2000" y="334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正文未完成前，禁止生成正式图件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2000" y="2916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图件冲突裁决优先级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2000" y="3168000"/>
            <a:ext cx="2160000" cy="54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" y="32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  1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2000" y="3420000"/>
            <a:ext cx="21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architecture_scope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92000" y="3311999"/>
            <a:ext cx="10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&gt;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00000" y="3168000"/>
            <a:ext cx="2160000" cy="540000"/>
          </a:xfrm>
          <a:prstGeom prst="rect">
            <a:avLst/>
          </a:prstGeom>
          <a:solidFill>
            <a:srgbClr val="E0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00000" y="32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  2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00000" y="3420000"/>
            <a:ext cx="21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technical_baseline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60000" y="3311999"/>
            <a:ext cx="10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&gt;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968000" y="3168000"/>
            <a:ext cx="2160000" cy="54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8000" y="32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  3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68000" y="3420000"/>
            <a:ext cx="21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investment_schema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28000" y="3311999"/>
            <a:ext cx="10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&gt;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236000" y="3168000"/>
            <a:ext cx="2160000" cy="54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6000" y="32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  4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36000" y="3420000"/>
            <a:ext cx="21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chart_registry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396000" y="3311999"/>
            <a:ext cx="10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&gt;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504000" y="3168000"/>
            <a:ext cx="2160000" cy="540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4000" y="32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  5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504000" y="3420000"/>
            <a:ext cx="21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  正文描述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写作行为约束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Writing Behavior Constraints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16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六条强制写作纪律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000" y="1314000"/>
            <a:ext cx="3780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000" y="1314000"/>
            <a:ext cx="72000" cy="68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1368000"/>
            <a:ext cx="35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 panose="020B0503020204020204" charset="-122"/>
              </a:rPr>
              <a:t>✕  规则 1</a:t>
            </a:r>
            <a:endParaRPr sz="11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000" y="1602000"/>
            <a:ext cx="349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不得整体重写既有章节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56000" y="1314000"/>
            <a:ext cx="3780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6000" y="1314000"/>
            <a:ext cx="72000" cy="68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6000" y="1368000"/>
            <a:ext cx="35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 panose="020B0503020204020204" charset="-122"/>
              </a:rPr>
              <a:t>✕  规则 2</a:t>
            </a:r>
            <a:endParaRPr sz="11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36000" y="1602000"/>
            <a:ext cx="349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不得改变章节标题与编号结构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80000" y="1314000"/>
            <a:ext cx="3780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0000" y="1314000"/>
            <a:ext cx="72000" cy="68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0000" y="1368000"/>
            <a:ext cx="35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 panose="020B0503020204020204" charset="-122"/>
              </a:rPr>
              <a:t>✕  规则 3</a:t>
            </a:r>
            <a:endParaRPr sz="11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60000" y="1602000"/>
            <a:ext cx="349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若章节已存在，仅允许增量补充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000" y="2106000"/>
            <a:ext cx="3780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" y="2106000"/>
            <a:ext cx="72000" cy="68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" y="2160000"/>
            <a:ext cx="35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 panose="020B0503020204020204" charset="-122"/>
              </a:rPr>
              <a:t>✕  规则 4</a:t>
            </a:r>
            <a:endParaRPr sz="11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000" y="2394000"/>
            <a:ext cx="349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禁止删除用户未明确要求删除的内容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56000" y="2106000"/>
            <a:ext cx="3780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6000" y="2106000"/>
            <a:ext cx="72000" cy="68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6000" y="2160000"/>
            <a:ext cx="35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 panose="020B0503020204020204" charset="-122"/>
              </a:rPr>
              <a:t>✕  规则 5</a:t>
            </a:r>
            <a:endParaRPr sz="11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36000" y="2394000"/>
            <a:ext cx="349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禁止扩展用户未提出的系统能力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80000" y="2106000"/>
            <a:ext cx="3780000" cy="68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0000" y="2106000"/>
            <a:ext cx="72000" cy="68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0000" y="2160000"/>
            <a:ext cx="35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 panose="020B0503020204020204" charset="-122"/>
              </a:rPr>
              <a:t>✕  规则 6</a:t>
            </a:r>
            <a:endParaRPr sz="11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60000" y="2394000"/>
            <a:ext cx="349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 panose="020B0503020204020204" charset="-122"/>
              </a:rPr>
              <a:t>禁止解释写作理由或模型决策过程</a:t>
            </a:r>
            <a:endParaRPr sz="13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2000" y="3024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章节风格对照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32000" y="3276000"/>
          <a:ext cx="1152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0"/>
                <a:gridCol w="5760000"/>
              </a:tblGrid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允许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禁止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功能性章节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论文式结构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直接服务项目建设逻辑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背景化散文写法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客观中性表达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营销 / 宣传 / 产品介绍风格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结构清晰、可被摘录审查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情绪化表达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34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方案级抽象描述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工程设计书风格 / 算法细节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40000" y="631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微软雅黑" panose="020B0503020204020204" charset="-122"/>
              </a:rPr>
              <a:t>信息密度原则：删除无功能语句，优先结构清晰而非修辞，每段必须承担明确文档功能。</a:t>
            </a:r>
            <a:endParaRPr sz="12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常见违规示例对比（上）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Common Violations — Part 1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17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44000"/>
            <a:ext cx="11520000" cy="251999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0692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场景一：需求未固化，直接进入写作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000" y="13140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350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收到用户口述后，直接让 AI 生成建设方案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999" y="13140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350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先澄清需求，固化为 specs/需求.md，通过评审后再生成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16668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1702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方案内容来自会议讨论，未形成结构化文件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999" y="16668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2000" y="1702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需求必须以文件形式固化，口头共识不能替代文档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2000" y="2109600"/>
            <a:ext cx="11520000" cy="251999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21348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场景二：技术路线未冻结，出现多方案对比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2000" y="23796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2415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方案正文中写"可采用 A 方案或 B 方案"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999" y="23796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2000" y="2415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技术路线已裁决，正文只写裁决结果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2000" y="27324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27684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章节中出现"也可考虑对象存储"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63999" y="27324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2000" y="27684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对象存储已被明确排除，不得出现在方案中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2000" y="30852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31212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以"技术更先进"为由推荐非基线技术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63999" y="30852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2000" y="31212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先进性不是裁决依据，合规性与可控性才是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2000" y="3528000"/>
            <a:ext cx="11520000" cy="251999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" y="35532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场景三：投资数字与 investment_schema 不一致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2000" y="37980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3834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正文写"共配置 3 台应用服务器"（与清单不符）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63999" y="37980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2000" y="3834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服务器数量必须来自 investment_schema，不得自行推导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2000" y="41508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0000" y="4186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根据存储容量需求反推硬盘数量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63999" y="41508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2000" y="4186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硬盘数量以 investment_schema 清单为准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2000" y="45036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0000" y="4539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预算总计与各分项之和不等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63999" y="45036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2000" y="4539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各分类小计之和必须严格等于总计，不允许误差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常见违规示例对比（下）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Common Violations — Part 2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18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44000"/>
            <a:ext cx="11520000" cy="251999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0692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场景四：图件越权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000" y="13140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350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拓扑图中出现 investment_schema 未定义的服务器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999" y="13140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350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图件节点必须来自 investment_schema，不得新增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16668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1702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现网结构图参考了建设规划内容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999" y="16668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2000" y="1702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现网结构图唯一来源是 specs/需求.md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2000" y="20196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2055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图件中出现完整 IP 地址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3999" y="20196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2000" y="2055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拓扑图、部署图不得出现完整 IP 地址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000" y="23724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24084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将 Mermaid 草图直接作为正式图件交付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63999" y="23724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000" y="24084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正式图件必须为 HTML 格式，PNG 为派生交付格式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000" y="2815200"/>
            <a:ext cx="11520000" cy="251999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" y="28404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场景五：写作行为越权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2000" y="30852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31212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补充章节时重写了原有段落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63999" y="30852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2000" y="31212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既有章节只允许增量补充，不得整体重写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2000" y="34380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" y="3474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方案中扩展了"未来可扩展为 AI 分析平台"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63999" y="34380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2000" y="34740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仅表达已裁决能力，不引入未来扩展描述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2000" y="37908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000" y="3826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章节末尾加入'建议后续...'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63999" y="37908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2000" y="38268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禁止建议性语气和未来能力设想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2000" y="4233600"/>
            <a:ext cx="11520000" cy="251999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0" y="42588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场景六：现网与建设层混用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2000" y="45036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0000" y="4539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现状分析章节引用了建设后的设备规模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63999" y="45036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2000" y="45396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现状描述仅来自 specs/需求.md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32000" y="4856400"/>
            <a:ext cx="5688000" cy="324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0" y="48924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微软雅黑" panose="020B0503020204020204" charset="-122"/>
              </a:rPr>
              <a:t>✕  建设方案以现网存在的问题推导配置规模</a:t>
            </a:r>
            <a:endParaRPr sz="12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63999" y="4856400"/>
            <a:ext cx="5688000" cy="3240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2000" y="4892400"/>
            <a:ext cx="55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C"/>
                </a:solidFill>
                <a:latin typeface="微软雅黑" panose="020B0503020204020204" charset="-122"/>
              </a:rPr>
              <a:t>✔  建设配置来自 investment_schema，不以现网问题推导</a:t>
            </a:r>
            <a:endParaRPr sz="1200" b="0">
              <a:solidFill>
                <a:srgbClr val="1A6B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提交前检查清单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Pre-Submission Checklist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19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044000"/>
            <a:ext cx="3816000" cy="169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3816000" cy="28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080000"/>
            <a:ext cx="37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一、事实层（specs/ 完整性）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000" y="13860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specs/需求.md 已完成，包含"现网设备清单"章节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000" y="17028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specs/technical_baseline.md 已冻结，状态为"已裁决"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2000" y="20196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specs/investment_schema.md 已确认，总计 = 各分项之和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000" y="23364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specs/chart_registry.md 已确认本项目适用图件类别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84000" y="1044000"/>
            <a:ext cx="3816000" cy="169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4000" y="1044000"/>
            <a:ext cx="3816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6000" y="1080000"/>
            <a:ext cx="37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二、技术路线一致性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56000" y="13860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方案正文未出现基线排除的技术模型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56000" y="17028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方案正文未进行技术路线对比或替代方案描述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56000" y="20196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图件中无未定义节点，无完整 IP 地址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08000" y="1044000"/>
            <a:ext cx="3816000" cy="169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08000" y="1044000"/>
            <a:ext cx="3816000" cy="288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0000" y="1080000"/>
            <a:ext cx="37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三、投资合理性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80000" y="13860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正文中设备数量与 investment_schema 一致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80000" y="17028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预算章节金额与 investment_schema 完全一致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80000" y="20196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无过度设计描述（配置超出业务需求的解释）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0000" y="2844000"/>
            <a:ext cx="3816000" cy="169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0000" y="2844000"/>
            <a:ext cx="3816000" cy="28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000" y="2880000"/>
            <a:ext cx="37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四、图件体系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2000" y="31860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A 类强制图件已全部生成（A-01 至 A-06）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2000" y="35028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正式图件均为 HTML 源格式，存放于 output/chart/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2000" y="38196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PNG 均为 HTML 导出，分辨率 ≥ 1920×1080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284000" y="2844000"/>
            <a:ext cx="3816000" cy="169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84000" y="2844000"/>
            <a:ext cx="3816000" cy="28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6000" y="2880000"/>
            <a:ext cx="37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五、写作合规性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56000" y="31860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无整体重写既有章节行为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356000" y="35028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无营销 / 宣传 / 论文式语言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56000" y="38196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无未来能力设想或"建议后续"表达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08000" y="2844000"/>
            <a:ext cx="3816000" cy="1692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08000" y="2844000"/>
            <a:ext cx="3816000" cy="288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0000" y="2880000"/>
            <a:ext cx="37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六、可答辩性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80000" y="31860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每项技术选择有 specs/ 文件支撑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80000" y="35028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每项预算有清单依据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80000" y="3819600"/>
            <a:ext cx="3708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 panose="020B0503020204020204" charset="-122"/>
              </a:rPr>
              <a:t>  ☐  章节结构无内部矛盾</a:t>
            </a:r>
            <a:endParaRPr sz="1100" b="0">
              <a:solidFill>
                <a:srgbClr val="1A1A2E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60000" y="6282000"/>
            <a:ext cx="1152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0000" y="6300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以上任何一项不满足，禁止进入交付流程。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144000"/>
            <a:ext cx="64800" cy="61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2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总结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000" y="6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微软雅黑" panose="020B0503020204020204" charset="-122"/>
              </a:rPr>
              <a:t>Summary</a:t>
            </a:r>
            <a:endParaRPr sz="1100" b="0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00000"/>
            <a:ext cx="12192119" cy="2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12192119" cy="180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32119" y="6606001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44455"/>
                </a:solidFill>
                <a:latin typeface="微软雅黑" panose="020B0503020204020204" charset="-122"/>
              </a:rPr>
              <a:t>20 / 20</a:t>
            </a:r>
            <a:endParaRPr sz="10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Proposal Writing Skill 的核心工程价值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000" y="1296000"/>
          <a:ext cx="11520000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8280000"/>
              </a:tblGrid>
              <a:tr h="2592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控制维度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解决的问题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B2D4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需求固化机制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避免口头需求带来的理解偏差与后期扯皮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技术路线冻结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避免方案在写作过程中技术漂移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投资模型权威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避免评审阶段出现价格质疑与数字冲突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图件注册控制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避免图件越权表达未批准的系统能力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写作行为约束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sz="1300">
                          <a:solidFill>
                            <a:srgbClr val="1A1A2E"/>
                          </a:solidFill>
                          <a:latin typeface="微软雅黑" panose="020B0503020204020204" charset="-122"/>
                        </a:rPr>
                        <a:t>避免模型自由发挥破坏方案内部一致性</a:t>
                      </a:r>
                      <a:endParaRPr sz="1300">
                        <a:solidFill>
                          <a:srgbClr val="1A1A2E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2000" y="324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D4F"/>
                </a:solidFill>
                <a:latin typeface="微软雅黑" panose="020B0503020204020204" charset="-122"/>
              </a:rPr>
              <a:t>▌ 记住三个"禁止"</a:t>
            </a:r>
            <a:endParaRPr sz="1400" b="1">
              <a:solidFill>
                <a:srgbClr val="1B2D4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2000" y="3491999"/>
            <a:ext cx="11520000" cy="32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3520800"/>
            <a:ext cx="1116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  ✕  禁止在需求未固化前进入写作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000" y="3851999"/>
            <a:ext cx="11520000" cy="32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3880800"/>
            <a:ext cx="1116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  ✕  禁止在技术路线未冻结前生成图件与正文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1520000" cy="32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4240800"/>
            <a:ext cx="1116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  ✕  禁止模型自行推导投资数字与设备配置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2000" y="4626000"/>
            <a:ext cx="11520000" cy="792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4680000"/>
            <a:ext cx="10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BBCC"/>
                </a:solidFill>
                <a:latin typeface="微软雅黑" panose="020B0503020204020204" charset="-122"/>
              </a:rPr>
              <a:t>▌ 记住一个定义</a:t>
            </a:r>
            <a:endParaRPr sz="1200" b="1">
              <a:solidFill>
                <a:srgbClr val="AABBC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8000" y="4878000"/>
            <a:ext cx="1080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微软雅黑" panose="020B0503020204020204" charset="-122"/>
              </a:rPr>
              <a:t>方案 = 决策与约束的表达载体</a:t>
            </a:r>
            <a:endParaRPr sz="2000" b="1">
              <a:solidFill>
                <a:srgbClr val="F5A623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8000" y="5130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微软雅黑" panose="020B0503020204020204" charset="-122"/>
              </a:rPr>
              <a:t>写方案不是在创作，而是把"已经确定的事情"用符合评审语境的方式说清楚。</a:t>
            </a:r>
            <a:endParaRPr sz="1300" b="0">
              <a:solidFill>
                <a:srgbClr val="CCCCCC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0000" y="630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微软雅黑" panose="020B0503020204020204" charset="-122"/>
              </a:rPr>
              <a:t>内部培训材料 · 请勿对外发布                依据文件：SKILL.md / readme.md / specs/ 体系文件</a:t>
            </a:r>
            <a:endParaRPr sz="1100" b="0">
              <a:solidFill>
                <a:srgbClr val="4444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7864</Words>
  <Application>WPS 演示</Application>
  <PresentationFormat>On-screen Show (4:3)</PresentationFormat>
  <Paragraphs>958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Courier New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Mikl </cp:lastModifiedBy>
  <cp:revision>2</cp:revision>
  <dcterms:created xsi:type="dcterms:W3CDTF">2013-01-27T09:14:00Z</dcterms:created>
  <dcterms:modified xsi:type="dcterms:W3CDTF">2026-03-01T12:09:05Z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6ADC57AF773F48A39E58897FC7A24BE8_12</vt:lpwstr>
  </property>
  <property fmtid="{D5CDD505-2E9C-101B-9397-08002B2CF9AE}" pid="3" name="KSOProductBuildVer">
    <vt:lpwstr>2052-12.1.0.24657</vt:lpwstr>
  </property>
</Properties>
</file>
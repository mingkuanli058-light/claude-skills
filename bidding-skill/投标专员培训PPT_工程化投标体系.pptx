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54303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5F7FA"/>
                </a:solidFill>
              </a:defRPr>
            </a:pPr>
            <a:r>
              <a:t>工程化投标体系操作培训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430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7E2F5"/>
                </a:solidFill>
              </a:defRPr>
            </a:pPr>
            <a:r>
              <a:t>从“写文件”到“标准化生产”｜投标专员培训PPT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10543032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3063240"/>
            <a:ext cx="972007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4181F"/>
                </a:solidFill>
              </a:defRPr>
            </a:pPr>
            <a:r>
              <a:t>适用对象：投标专员 / 售前工程师</a:t>
            </a:r>
          </a:p>
          <a:p>
            <a:pPr>
              <a:defRPr sz="1600">
                <a:solidFill>
                  <a:srgbClr val="6E7887"/>
                </a:solidFill>
              </a:defRPr>
            </a:pPr>
            <a:r>
              <a:t>培训目标：掌握 shared/ 权威输入域、projects/X/specs/ 投标输入域、逐个生成与交叉检查的标准作业。</a:t>
            </a:r>
          </a:p>
          <a:p>
            <a:pPr>
              <a:defRPr sz="1600">
                <a:solidFill>
                  <a:srgbClr val="6E7887"/>
                </a:solidFill>
              </a:defRPr>
            </a:pPr>
            <a:r>
              <a:t>交付标准：技术响应逐条可追溯、商务承诺一致、报价可校验、无串标风险、Word 格式规范。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46520"/>
            <a:ext cx="105430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887"/>
                </a:solidFill>
              </a:defRPr>
            </a:pPr>
            <a:r>
              <a:t>北京宽和精英科技发展有限公司｜内部培训资料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"/>
            <a:ext cx="105430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</a:defRPr>
            </a:pPr>
            <a:r>
              <a:t>为什么必须工程化？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430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181F"/>
                </a:solidFill>
              </a:defRPr>
            </a:pPr>
            <a:r>
              <a:t>投标不是写作，是结构化生产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543032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737360"/>
            <a:ext cx="972007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招标文件越来越复杂：技术、商务、资格、格式要求并行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评分标准决定写作方向：不按分值分配篇幅 = 低分风险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多主体投标风险高：文本雷同 / 数据串用 / 报价规律易触发异常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人工写作不可控：缺乏可追溯、可复用、可审计的生产链路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工程化带来：流程可复制、风险可控、交付一致、效率可提升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5669280"/>
            <a:ext cx="97200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8CAA"/>
                </a:solidFill>
              </a:defRPr>
            </a:pPr>
            <a:r>
              <a:t>结论：先建权威输入域，再生成；先隔离主体，再交叉检查。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92240"/>
            <a:ext cx="10543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887"/>
                </a:solidFill>
              </a:defRPr>
            </a:pPr>
            <a:r>
              <a:t>工程化投标体系｜内部培训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"/>
            <a:ext cx="105430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</a:defRPr>
            </a:pPr>
            <a:r>
              <a:t>系统整体流程（必须按顺序）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81F"/>
                </a:solidFill>
              </a:defRPr>
            </a:pPr>
            <a:r>
              <a:t>标准流程（SOP）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25425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376D"/>
                </a:solidFill>
              </a:defRPr>
            </a:pPr>
            <a:r>
              <a:t>招标文件原文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41804" y="2240280"/>
            <a:ext cx="274320" cy="384048"/>
          </a:xfrm>
          <a:prstGeom prst="rightArrow">
            <a:avLst/>
          </a:prstGeom>
          <a:solidFill>
            <a:srgbClr val="008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80716" y="1965960"/>
            <a:ext cx="125425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376D"/>
                </a:solidFill>
              </a:defRPr>
            </a:pPr>
            <a:r>
              <a:t>解析为 shared/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99560" y="2240280"/>
            <a:ext cx="274320" cy="384048"/>
          </a:xfrm>
          <a:prstGeom prst="rightArrow">
            <a:avLst/>
          </a:prstGeom>
          <a:solidFill>
            <a:srgbClr val="008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38472" y="1965960"/>
            <a:ext cx="125425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376D"/>
                </a:solidFill>
              </a:defRPr>
            </a:pPr>
            <a:r>
              <a:t>填写 specs/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57316" y="2240280"/>
            <a:ext cx="274320" cy="384048"/>
          </a:xfrm>
          <a:prstGeom prst="rightArrow">
            <a:avLst/>
          </a:prstGeom>
          <a:solidFill>
            <a:srgbClr val="008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96228" y="1965960"/>
            <a:ext cx="125425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376D"/>
                </a:solidFill>
              </a:defRPr>
            </a:pPr>
            <a:r>
              <a:t>生成 A→B→C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15072" y="2240280"/>
            <a:ext cx="274320" cy="384048"/>
          </a:xfrm>
          <a:prstGeom prst="rightArrow">
            <a:avLst/>
          </a:prstGeom>
          <a:solidFill>
            <a:srgbClr val="008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53984" y="1965960"/>
            <a:ext cx="125425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376D"/>
                </a:solidFill>
              </a:defRPr>
            </a:pPr>
            <a:r>
              <a:t>交叉检查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672828" y="2240280"/>
            <a:ext cx="274320" cy="384048"/>
          </a:xfrm>
          <a:prstGeom prst="rightArrow">
            <a:avLst/>
          </a:prstGeom>
          <a:solidFill>
            <a:srgbClr val="008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111740" y="1965960"/>
            <a:ext cx="1254252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376D"/>
                </a:solidFill>
              </a:defRPr>
            </a:pPr>
            <a:r>
              <a:t>Word 交付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105430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181F"/>
                </a:solidFill>
              </a:defRPr>
            </a:pPr>
            <a:r>
              <a:t>三条底线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77640"/>
            <a:ext cx="10543032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4160520"/>
            <a:ext cx="97200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不跳步骤：未建立 shared/ 权威域 → 禁止生成 output/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不越权：生成阶段不得修改 shared/（只读权威域）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不混主体：一次对话仅处理一个投标主体（A 完成后再开新对话做 B）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92240"/>
            <a:ext cx="10543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887"/>
                </a:solidFill>
              </a:defRPr>
            </a:pPr>
            <a:r>
              <a:t>工程化投标体系｜内部培训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"/>
            <a:ext cx="105430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</a:defRPr>
            </a:pPr>
            <a:r>
              <a:t>第一阶段：解析招标文件（建立 shared/ 权威域）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81F"/>
                </a:solidFill>
              </a:defRPr>
            </a:pPr>
            <a:r>
              <a:t>目标：把招标原文结构化为可追溯、可审计的权威输入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51114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181F"/>
                </a:solidFill>
              </a:defRPr>
            </a:pPr>
            <a:r>
              <a:t>必须产出（6份）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5111496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331720"/>
            <a:ext cx="428853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招标文件摘要.md（时间节点/方式/截止/开标）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评分标准.md（分值/权重/子项）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技术要求.md（逐条保留原文，含★条款）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商务要求.md（交付/验收/付款/售后）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资格要求.md（资质/业绩/人员/联合体）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废标条款.md（红线清单）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554480"/>
            <a:ext cx="51114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181F"/>
                </a:solidFill>
              </a:defRPr>
            </a:pPr>
            <a:r>
              <a:t>提取纪律（不可违反）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2148840"/>
            <a:ext cx="5111496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65976" y="2331720"/>
            <a:ext cx="428853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只提取，不总结、不改写、不解释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不得补充行业常识、不得推断隐含要求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提取结果必须人工审核确认后才能作为权威输入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shared/ 缺失或为空 → 禁止进入生成阶段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92240"/>
            <a:ext cx="10543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887"/>
                </a:solidFill>
              </a:defRPr>
            </a:pPr>
            <a:r>
              <a:t>工程化投标体系｜内部培训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"/>
            <a:ext cx="105430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</a:defRPr>
            </a:pPr>
            <a:r>
              <a:t>第二阶段：准备投标主体资料（projects/X/specs/）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430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181F"/>
                </a:solidFill>
              </a:defRPr>
            </a:pPr>
            <a:r>
              <a:t>每个主体独立目录（数据隔离）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543032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737360"/>
            <a:ext cx="972007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公司资料.md：公司信息、资质、人员、业绩（真实可核验）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报价清单.md：分项报价与总价（可算术校验）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偏离表.md：对技术/商务/资格的偏离声明（唯一来源）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style_profile.md：写作风格档案（用于差异化）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5669280"/>
            <a:ext cx="97200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8CAA"/>
                </a:solidFill>
              </a:defRPr>
            </a:pPr>
            <a:r>
              <a:t>关键原则：不同主体不得复制粘贴、不得混用公司关键词、不得共享报价模型。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806440"/>
            <a:ext cx="10543032" cy="59436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925312"/>
            <a:ext cx="101772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4181F"/>
                </a:solidFill>
              </a:defRPr>
            </a:pPr>
            <a:r>
              <a:t>示例路径：projects/A/specs/   projects/B/specs/   projects/C/specs/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92240"/>
            <a:ext cx="10543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887"/>
                </a:solidFill>
              </a:defRPr>
            </a:pPr>
            <a:r>
              <a:t>工程化投标体系｜内部培训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"/>
            <a:ext cx="105430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</a:defRPr>
            </a:pPr>
            <a:r>
              <a:t>评分导向写作：按分值分配篇幅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81F"/>
                </a:solidFill>
              </a:defRPr>
            </a:pPr>
            <a:r>
              <a:t>评分标准决定写作深度与篇幅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430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E7887"/>
                </a:solidFill>
              </a:defRPr>
            </a:pPr>
            <a:r>
              <a:t>把“评分项”映射为“章节重点”，避免平均用力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5111496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304288"/>
            <a:ext cx="640080" cy="640080"/>
          </a:xfrm>
          <a:prstGeom prst="ellipse">
            <a:avLst/>
          </a:prstGeom>
          <a:solidFill>
            <a:srgbClr val="008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5F7FA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212848"/>
            <a:ext cx="39227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81F"/>
                </a:solidFill>
              </a:defRPr>
            </a:pPr>
            <a:r>
              <a:t>≥15 分：对应章节必须充分展开（写作重心）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2011680"/>
            <a:ext cx="5111496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83096" y="2304288"/>
            <a:ext cx="640080" cy="640080"/>
          </a:xfrm>
          <a:prstGeom prst="ellipse">
            <a:avLst/>
          </a:prstGeom>
          <a:solidFill>
            <a:srgbClr val="008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5F7FA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14616" y="2212848"/>
            <a:ext cx="39227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81F"/>
                </a:solidFill>
              </a:defRPr>
            </a:pPr>
            <a:r>
              <a:t>5–14 分：中等篇幅，清晰、逐点响应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20440"/>
            <a:ext cx="5111496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640080" cy="640080"/>
          </a:xfrm>
          <a:prstGeom prst="ellipse">
            <a:avLst/>
          </a:prstGeom>
          <a:solidFill>
            <a:srgbClr val="008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5F7FA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721608"/>
            <a:ext cx="39227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81F"/>
                </a:solidFill>
              </a:defRPr>
            </a:pPr>
            <a:r>
              <a:t>&lt;5 分：简洁明确，不过度展开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3520440"/>
            <a:ext cx="5111496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3813048"/>
            <a:ext cx="640080" cy="640080"/>
          </a:xfrm>
          <a:prstGeom prst="ellipse">
            <a:avLst/>
          </a:prstGeom>
          <a:solidFill>
            <a:srgbClr val="008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5F7FA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14616" y="3721608"/>
            <a:ext cx="39227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81F"/>
                </a:solidFill>
              </a:defRPr>
            </a:pPr>
            <a:r>
              <a:t>无评分对应：仅满足格式，不刻意增篇幅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029200"/>
            <a:ext cx="5111496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" y="5321808"/>
            <a:ext cx="640080" cy="640080"/>
          </a:xfrm>
          <a:prstGeom prst="ellipse">
            <a:avLst/>
          </a:prstGeom>
          <a:solidFill>
            <a:srgbClr val="008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5F7FA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5230368"/>
            <a:ext cx="39227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81F"/>
                </a:solidFill>
              </a:defRPr>
            </a:pPr>
            <a:r>
              <a:t>每个评分子项要能在正文中定位到对应证据段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4496" y="5029200"/>
            <a:ext cx="5111496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5321808"/>
            <a:ext cx="640080" cy="640080"/>
          </a:xfrm>
          <a:prstGeom prst="ellipse">
            <a:avLst/>
          </a:prstGeom>
          <a:solidFill>
            <a:srgbClr val="008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5F7FA"/>
                </a:solidFill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14616" y="5230368"/>
            <a:ext cx="39227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81F"/>
                </a:solidFill>
              </a:defRPr>
            </a:pPr>
            <a:r>
              <a:t>未按评分分配篇幅：常见低分原因之一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492240"/>
            <a:ext cx="10543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887"/>
                </a:solidFill>
              </a:defRPr>
            </a:pPr>
            <a:r>
              <a:t>工程化投标体系｜内部培训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"/>
            <a:ext cx="105430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</a:defRPr>
            </a:pPr>
            <a:r>
              <a:t>技术方案写作纪律（必须逐条响应）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81F"/>
                </a:solidFill>
              </a:defRPr>
            </a:pPr>
            <a:r>
              <a:t>技术方案 = “逐条响应 + 可追溯证据”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51114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181F"/>
                </a:solidFill>
              </a:defRPr>
            </a:pPr>
            <a:r>
              <a:t>必须做到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5111496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331720"/>
            <a:ext cx="428853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逐条响应 shared/技术要求.md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响应结构：先引述招标原文 → 再阐述我方方案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★ 参数必须正面明确响应，不得回避或模糊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偏离项唯一来源：projects/X/specs/偏离表.md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内容必须可审计：段落能回溯到招标条款编号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554480"/>
            <a:ext cx="51114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181F"/>
                </a:solidFill>
              </a:defRPr>
            </a:pPr>
            <a:r>
              <a:t>严禁行为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2148840"/>
            <a:ext cx="5111496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65976" y="2331720"/>
            <a:ext cx="428853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编造技术参数、性能数据、测试结果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引入招标要求之外的系统能力（除非评分标准明确鼓励）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修改章节标题/编号结构（仅允许增量补充）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整体重写既有章节（仅允许局部增量）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营销宣传式表达、情绪化表达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92240"/>
            <a:ext cx="10543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887"/>
                </a:solidFill>
              </a:defRPr>
            </a:pPr>
            <a:r>
              <a:t>工程化投标体系｜内部培训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"/>
            <a:ext cx="105430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</a:defRPr>
            </a:pPr>
            <a:r>
              <a:t>商务方案与报价文件纪律（高风险区）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81F"/>
                </a:solidFill>
              </a:defRPr>
            </a:pPr>
            <a:r>
              <a:t>一致性要求：商务承诺 ↔ 偏离表 ↔ 报价清单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51114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181F"/>
                </a:solidFill>
              </a:defRPr>
            </a:pPr>
            <a:r>
              <a:t>商务方案必须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5111496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331720"/>
            <a:ext cx="428853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逐条响应 shared/商务要求.md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交付周期、质保、售后承诺与偏离表一致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明确：响应时间、服务方式、人员配备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不得超出公司实际能力进行承诺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554480"/>
            <a:ext cx="51114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181F"/>
                </a:solidFill>
              </a:defRPr>
            </a:pPr>
            <a:r>
              <a:t>报价文件必须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2148840"/>
            <a:ext cx="5111496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65976" y="2331720"/>
            <a:ext cx="428853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报价数据唯一来源：projects/X/specs/报价清单.md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不得基于经验/市场均值修改报价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报价格式与招标要求一致（表头/单位/税率/合计）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报价总价=分项之和（必须算术校验）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如公布控制价：投标总价不得超过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92240"/>
            <a:ext cx="10543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887"/>
                </a:solidFill>
              </a:defRPr>
            </a:pPr>
            <a:r>
              <a:t>工程化投标体系｜内部培训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"/>
            <a:ext cx="105430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</a:defRPr>
            </a:pPr>
            <a:r>
              <a:t>图件生成规则（只表达，不设计）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430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181F"/>
                </a:solidFill>
              </a:defRPr>
            </a:pPr>
            <a:r>
              <a:t>允许生成的四类正式图件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543032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737360"/>
            <a:ext cx="972007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系统总体架构图：系统层级、组件构成、模块关系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网络拓扑图：网络结构、链路、设备连接关系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部署结构图：部署位置、节点分布、中心/边缘结构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数据流转图：数据交互路径、存储与处理关系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108960"/>
            <a:ext cx="97200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8CAA"/>
                </a:solidFill>
              </a:defRPr>
            </a:pPr>
            <a:r>
              <a:t>触发条件：仅当 specs 提供足够结构信息；不足时输出“图件输入缺口清单”。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105430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181F"/>
                </a:solidFill>
              </a:defRPr>
            </a:pPr>
            <a:r>
              <a:t>强制格式与一致性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297680"/>
            <a:ext cx="10543032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4480560"/>
            <a:ext cx="972007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正式图件源格式必须为 HTML（output/chart/）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PNG/SVG 仅作为派生交付资产（≥1920×1080）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不得引入 specs 未定义的节点/组件/关系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图文不一致必须输出检查文件并修正回归 specs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92240"/>
            <a:ext cx="10543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887"/>
                </a:solidFill>
              </a:defRPr>
            </a:pPr>
            <a:r>
              <a:t>工程化投标体系｜内部培训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"/>
            <a:ext cx="105430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</a:defRPr>
            </a:pPr>
            <a:r>
              <a:t>多主体投标：隔离原则（防串标核心）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430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181F"/>
                </a:solidFill>
              </a:defRPr>
            </a:pPr>
            <a:r>
              <a:t>操作红线（必须执行）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543032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737360"/>
            <a:ext cx="972007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一次对话只处理一个主体：A 完成后新开对话处理 B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生成 A 时禁止读取 B/C（数据与上下文隔离）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强制风格差异化：句式、论述角度、图件配色布局、表格密度、章节详略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任意两份同章节逐段相似度不得超过 40%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不得出现其他主体公司名/人名/电话等关键词（数据泄露=高危）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5669280"/>
            <a:ext cx="97200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8CAA"/>
                </a:solidFill>
              </a:defRPr>
            </a:pPr>
            <a:r>
              <a:t>关键：输入域隔离 + 风格策略差异化 + 交叉检查。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92240"/>
            <a:ext cx="10543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887"/>
                </a:solidFill>
              </a:defRPr>
            </a:pPr>
            <a:r>
              <a:t>工程化投标体系｜内部培训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"/>
            <a:ext cx="105430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</a:defRPr>
            </a:pPr>
            <a:r>
              <a:t>交叉检查（必须在交付前完成）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81F"/>
                </a:solidFill>
              </a:defRPr>
            </a:pPr>
            <a:r>
              <a:t>三份全部生成后执行交叉检查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51114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181F"/>
                </a:solidFill>
              </a:defRPr>
            </a:pPr>
            <a:r>
              <a:t>执行命令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5111496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331720"/>
            <a:ext cx="428853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python cross_check.py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输出：相似度报告 / 泄露检索 / 报价模式分析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按报告修改相似度过高段落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修改后建议再次复查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554480"/>
            <a:ext cx="51114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181F"/>
                </a:solidFill>
              </a:defRPr>
            </a:pPr>
            <a:r>
              <a:t>检查项（合格线）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2148840"/>
            <a:ext cx="5111496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65976" y="2331720"/>
            <a:ext cx="428853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文本相似度：逐段 &lt; 40%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数据泄露：不得出现其他主体关键词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报价模式：不得等差/等比/整数倍规律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图件风格：配色与布局可区分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Word 元数据：作者/公司属性分别设置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92240"/>
            <a:ext cx="10543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887"/>
                </a:solidFill>
              </a:defRPr>
            </a:pPr>
            <a:r>
              <a:t>工程化投标体系｜内部培训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"/>
            <a:ext cx="105430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</a:defRPr>
            </a:pPr>
            <a:r>
              <a:t>常见废标风险（投标专员必背）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81F"/>
                </a:solidFill>
              </a:defRPr>
            </a:pPr>
            <a:r>
              <a:t>废标红线自检清单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430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E7887"/>
                </a:solidFill>
              </a:defRPr>
            </a:pPr>
            <a:r>
              <a:t>生成前后都要核查：尤其是★条款、格式、签章、预算控制价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5111496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304288"/>
            <a:ext cx="640080" cy="640080"/>
          </a:xfrm>
          <a:prstGeom prst="ellipse">
            <a:avLst/>
          </a:prstGeom>
          <a:solidFill>
            <a:srgbClr val="008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5F7FA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212848"/>
            <a:ext cx="39227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81F"/>
                </a:solidFill>
              </a:defRPr>
            </a:pPr>
            <a:r>
              <a:t>★ 实质性技术参数未正面响应或表述含糊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2011680"/>
            <a:ext cx="5111496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83096" y="2304288"/>
            <a:ext cx="640080" cy="640080"/>
          </a:xfrm>
          <a:prstGeom prst="ellipse">
            <a:avLst/>
          </a:prstGeom>
          <a:solidFill>
            <a:srgbClr val="008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5F7FA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14616" y="2212848"/>
            <a:ext cx="39227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81F"/>
                </a:solidFill>
              </a:defRPr>
            </a:pPr>
            <a:r>
              <a:t>报价超过预算控制价（如招标公布）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20440"/>
            <a:ext cx="5111496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640080" cy="640080"/>
          </a:xfrm>
          <a:prstGeom prst="ellipse">
            <a:avLst/>
          </a:prstGeom>
          <a:solidFill>
            <a:srgbClr val="008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5F7FA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721608"/>
            <a:ext cx="39227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81F"/>
                </a:solidFill>
              </a:defRPr>
            </a:pPr>
            <a:r>
              <a:t>格式不符合要求：目录/页码/签章/授权书占位缺失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3520440"/>
            <a:ext cx="5111496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3813048"/>
            <a:ext cx="640080" cy="640080"/>
          </a:xfrm>
          <a:prstGeom prst="ellipse">
            <a:avLst/>
          </a:prstGeom>
          <a:solidFill>
            <a:srgbClr val="008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5F7FA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14616" y="3721608"/>
            <a:ext cx="39227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81F"/>
                </a:solidFill>
              </a:defRPr>
            </a:pPr>
            <a:r>
              <a:t>负偏离未在偏离表声明或超出允许范围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029200"/>
            <a:ext cx="5111496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" y="5321808"/>
            <a:ext cx="640080" cy="640080"/>
          </a:xfrm>
          <a:prstGeom prst="ellipse">
            <a:avLst/>
          </a:prstGeom>
          <a:solidFill>
            <a:srgbClr val="008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5F7FA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5230368"/>
            <a:ext cx="39227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81F"/>
                </a:solidFill>
              </a:defRPr>
            </a:pPr>
            <a:r>
              <a:t>串标嫌疑：相同笔误、相同联系方式、文本高度雷同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4496" y="5029200"/>
            <a:ext cx="5111496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5321808"/>
            <a:ext cx="640080" cy="640080"/>
          </a:xfrm>
          <a:prstGeom prst="ellipse">
            <a:avLst/>
          </a:prstGeom>
          <a:solidFill>
            <a:srgbClr val="008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5F7FA"/>
                </a:solidFill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14616" y="5230368"/>
            <a:ext cx="39227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81F"/>
                </a:solidFill>
              </a:defRPr>
            </a:pPr>
            <a:r>
              <a:t>关键证明材料缺失：资质有效期/业绩对应/人员证明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492240"/>
            <a:ext cx="10543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887"/>
                </a:solidFill>
              </a:defRPr>
            </a:pPr>
            <a:r>
              <a:t>工程化投标体系｜内部培训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"/>
            <a:ext cx="105430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</a:defRPr>
            </a:pPr>
            <a:r>
              <a:t>职责边界：人负责输入，系统负责生成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81F"/>
                </a:solidFill>
              </a:defRPr>
            </a:pPr>
            <a:r>
              <a:t>分工清晰才能可控交付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51114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181F"/>
                </a:solidFill>
              </a:defRPr>
            </a:pPr>
            <a:r>
              <a:t>投标专员负责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5111496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331720"/>
            <a:ext cx="428853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招标文件结构化（shared/）与审核确认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公司资料整理（真实、可核验）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报价测算与清单校验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偏离策略制定（偏离表）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风格差异化规划（style_profile）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交叉检查执行与整改闭环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554480"/>
            <a:ext cx="51114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181F"/>
                </a:solidFill>
              </a:defRPr>
            </a:pPr>
            <a:r>
              <a:t>系统/工具负责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2148840"/>
            <a:ext cx="5111496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65976" y="2331720"/>
            <a:ext cx="428853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按 shared/ + specs/ 生成技术/商务/报价/资格文件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按规则生成图件（HTML → PNG/SVG）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相似度/泄露/报价模式检查（cross_check.py）</a:t>
            </a:r>
          </a:p>
          <a:p>
            <a:pPr>
              <a:spcAft>
                <a:spcPts val="600"/>
              </a:spcAft>
              <a:defRPr sz="1800">
                <a:solidFill>
                  <a:srgbClr val="14181F"/>
                </a:solidFill>
              </a:defRPr>
            </a:pPr>
            <a:r>
              <a:t>构建 Word 投标文件（build_docx.py）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92240"/>
            <a:ext cx="10543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887"/>
                </a:solidFill>
              </a:defRPr>
            </a:pPr>
            <a:r>
              <a:t>工程化投标体系｜内部培训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"/>
            <a:ext cx="105430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</a:defRPr>
            </a:pPr>
            <a:r>
              <a:t>执行纪律总结（六条铁律）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4303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81F"/>
                </a:solidFill>
              </a:defRPr>
            </a:pPr>
            <a:r>
              <a:t>六条铁律（任何时候都不例外）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430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E7887"/>
                </a:solidFill>
              </a:defRPr>
            </a:pPr>
            <a:r>
              <a:t>违背任何一条，都可能导致废标或串标风险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5111496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304288"/>
            <a:ext cx="640080" cy="640080"/>
          </a:xfrm>
          <a:prstGeom prst="ellipse">
            <a:avLst/>
          </a:prstGeom>
          <a:solidFill>
            <a:srgbClr val="008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5F7FA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212848"/>
            <a:ext cx="39227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81F"/>
                </a:solidFill>
              </a:defRPr>
            </a:pPr>
            <a:r>
              <a:t>shared/ 是唯一招标侧权威输入域（只读）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2011680"/>
            <a:ext cx="5111496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83096" y="2304288"/>
            <a:ext cx="640080" cy="640080"/>
          </a:xfrm>
          <a:prstGeom prst="ellipse">
            <a:avLst/>
          </a:prstGeom>
          <a:solidFill>
            <a:srgbClr val="008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5F7FA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14616" y="2212848"/>
            <a:ext cx="39227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81F"/>
                </a:solidFill>
              </a:defRPr>
            </a:pPr>
            <a:r>
              <a:t>projects/X/specs/ 是唯一投标侧权威输入域（隔离）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20440"/>
            <a:ext cx="5111496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3813048"/>
            <a:ext cx="640080" cy="640080"/>
          </a:xfrm>
          <a:prstGeom prst="ellipse">
            <a:avLst/>
          </a:prstGeom>
          <a:solidFill>
            <a:srgbClr val="008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5F7FA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721608"/>
            <a:ext cx="39227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81F"/>
                </a:solidFill>
              </a:defRPr>
            </a:pPr>
            <a:r>
              <a:t>一次只生成一个主体（A→B→C，逐对话隔离）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3520440"/>
            <a:ext cx="5111496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3813048"/>
            <a:ext cx="640080" cy="640080"/>
          </a:xfrm>
          <a:prstGeom prst="ellipse">
            <a:avLst/>
          </a:prstGeom>
          <a:solidFill>
            <a:srgbClr val="008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5F7FA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14616" y="3721608"/>
            <a:ext cx="39227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81F"/>
                </a:solidFill>
              </a:defRPr>
            </a:pPr>
            <a:r>
              <a:t>不推理、不补充结构：内容必须可追溯到权威输入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029200"/>
            <a:ext cx="5111496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" y="5321808"/>
            <a:ext cx="640080" cy="640080"/>
          </a:xfrm>
          <a:prstGeom prst="ellipse">
            <a:avLst/>
          </a:prstGeom>
          <a:solidFill>
            <a:srgbClr val="008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5F7FA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5230368"/>
            <a:ext cx="39227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81F"/>
                </a:solidFill>
              </a:defRPr>
            </a:pPr>
            <a:r>
              <a:t>不编造公司信息、业绩、资质、人员或性能数据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4496" y="5029200"/>
            <a:ext cx="5111496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5321808"/>
            <a:ext cx="640080" cy="640080"/>
          </a:xfrm>
          <a:prstGeom prst="ellipse">
            <a:avLst/>
          </a:prstGeom>
          <a:solidFill>
            <a:srgbClr val="008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5F7FA"/>
                </a:solidFill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14616" y="5230368"/>
            <a:ext cx="392277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4181F"/>
                </a:solidFill>
              </a:defRPr>
            </a:pPr>
            <a:r>
              <a:t>不改变招标章节标题与编号结构（仅增量补充）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492240"/>
            <a:ext cx="10543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887"/>
                </a:solidFill>
              </a:defRPr>
            </a:pPr>
            <a:r>
              <a:t>工程化投标体系｜内部培训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"/>
            <a:ext cx="105430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</a:defRPr>
            </a:pPr>
            <a:r>
              <a:t>终极目标：可复制的投标生产线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0543032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737360"/>
            <a:ext cx="953719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600" b="1">
                <a:solidFill>
                  <a:srgbClr val="19376D"/>
                </a:solidFill>
              </a:defRPr>
            </a:pPr>
            <a:r>
              <a:t>我们交付的不是一份文件，而是一条可审计、可复用、可差异化的投标生产线。</a:t>
            </a:r>
          </a:p>
          <a:p>
            <a:pPr>
              <a:spcAft>
                <a:spcPts val="1400"/>
              </a:spcAft>
              <a:defRPr sz="1800">
                <a:solidFill>
                  <a:srgbClr val="14181F"/>
                </a:solidFill>
              </a:defRPr>
            </a:pPr>
            <a:r>
              <a:t>关键词：权威输入域（shared/）｜主体隔离（projects/X/specs/）｜评分导向｜交叉检查｜格式构建</a:t>
            </a:r>
          </a:p>
          <a:p>
            <a:pPr>
              <a:defRPr sz="1600">
                <a:solidFill>
                  <a:srgbClr val="6E7887"/>
                </a:solidFill>
              </a:defRPr>
            </a:pPr>
            <a:r>
              <a:t>交付标准：逐条可追溯、承诺一致、报价可校验、图文一致、无串标风险、Word 规范。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760720"/>
            <a:ext cx="10543032" cy="731520"/>
          </a:xfrm>
          <a:prstGeom prst="rect">
            <a:avLst/>
          </a:prstGeom>
          <a:solidFill>
            <a:srgbClr val="193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5897880"/>
            <a:ext cx="99029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7FA"/>
                </a:solidFill>
              </a:defRPr>
            </a:pPr>
            <a:r>
              <a:t>下一步：用一个真实项目按 SOP 完整跑一遍（shared → specs → output → cross_check → docx）。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92240"/>
            <a:ext cx="105430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887"/>
                </a:solidFill>
              </a:defRPr>
            </a:pPr>
            <a:r>
              <a:t>工程化投标体系｜培训结束｜请按 SOP 实操演练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3320</Words>
  <Application>WPS 演示</Application>
  <PresentationFormat>On-screen Show (4:3)</PresentationFormat>
  <Paragraphs>311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Mikl </cp:lastModifiedBy>
  <cp:revision>2</cp:revision>
  <dcterms:created xsi:type="dcterms:W3CDTF">2013-01-27T09:14:00Z</dcterms:created>
  <dcterms:modified xsi:type="dcterms:W3CDTF">2026-02-28T04:51:08Z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9C789D154EA34BF88567ADCFC1AD0EB0_13</vt:lpwstr>
  </property>
  <property fmtid="{D5CDD505-2E9C-101B-9397-08002B2CF9AE}" pid="3" name="KSOProductBuildVer">
    <vt:lpwstr>2052-12.1.0.24657</vt:lpwstr>
  </property>
</Properties>
</file>